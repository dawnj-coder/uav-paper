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42" Target="notesSlides/notesSlide17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,今天我将为大家详细解析v3_1_2声分离算法。这是一个用于从复杂环境噪声中提取特定声源(如气体泄漏声)的先进算法。本次报告将深入探讨其核心逻辑、数学模型和实现步骤,希望能帮助大家全面理解这一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报告将分为七个部分。首先,我们将介绍v3_1_2算法的核心逻辑。接着,会详细拆解空间局部超额和空间证据门控的实现细节。然后,我们将探讨如何利用实验室先验知识进行辅助约束。之后,会展示完整的声分离过程和声音恢复方法。最后,通过与传统方法的对比,对整个算法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v3_1_2算法的核心思想非常巧妙。它没有直接进行模式匹配,而是分两步走。第一步,通过"空间局部超额"分析,识别出那些在空间上集中于中心点的声音成分,从而滤除广泛分布的背景噪声。第二步,利用"实验室先验",对这些局部声音进行筛选,判断它们的频谱特征是否与真实的泄漏声相符。这种两步法大大提高了识别的准确性和鲁棒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第一部分:空间局部超额。首先,我们建立一个基本的物理模型。中心波束的信号被分解为泄漏声和背景声两部分。而周围位置的信号则近似认为只有背景声。通过对所有信号进行短时傅里叶变换,我们得到了时频功率谱,这是后续所有分析的基础。这张图直观地展示了一个信号的时频分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关键问题是,如何准确地估计中心位置的背景噪声?算法巧妙地利用了"相反方向同半径点"。对于远处的声源,它们在中心两侧对称点上的信号强度应该是相似的。因此,通过对这些对称点的信号取几何平均,我们可以很好地预测出中心位置的背景噪声水平。这里使用几何平均,是因为它在处理声功率这种动态范围很大的数据时,比算术平均更稳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进一步提高背景预测的稳健性,算法没有依赖单一的半径或方向。它采用了两级融合策略。首先,在同一个方向轴上,对不同半径的预测结果取中位数,以消除个别异常点的影响。然后,再对不同方向轴的结果取中位数,综合所有方向的信息。这种方法使得最终的背景估计B₀非常可靠,不易受到局部环境变化的干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中心实际功率和预测背景,我们就可以计算空间局部超额了。它的定义很简单,就是中心功率减去背景功率,并且只保留正值。这个值代表了中心位置独有的声音能量。但必须强调,这并不等同于泄漏声。它可能包含各种其他局部噪声,比如机械摩擦、电噪声等。所以,这一步只是完成了初步筛选,把范围缩小到了"中心独有的声音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空间证据门控部分。算法在这里做得非常精细,它不是简单地做减法。而是综合考虑了三个因素:第一,中心信号比背景高出的具体分贝值;第二,有多少个不同方向的对称点都支持"中心更强"这一结论;第三,所有背景预测值之间的一致性如何。这三个条件共同构成了对空间证据可靠性的评估,使得判断更加智能和稳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前面的三个证据,算法构建了一个自适应的阈值和最终的空间门控。简单来说,如果背景预测很不稳定,算法会要求中心信号必须比背景高出更多,才会认为它是一个有效的局部声源。最终,通过一个综合的门控函数,对初步的局部超额进行加权,得到经过空间筛选后的局部超额 P_spatial。这确保了我们保留下来的成分,不仅在能量上是局部的,而且在空间分布上是可信的。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第二道筛选:实验室先验辅助约束。我们利用在消声室中录制的真实泄漏数据,通过非负矩阵分解(NMF)技术,学习出一个"泄漏频谱字典"。这个字典包含了各种典型的泄漏声频谱形态。它不是一个单一的模板,而是一组基向量,能够灵活地表示不同条件下的泄漏声。这为后续的匹配提供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泄漏字典后,我们将它应用到工厂数据的空间局部超额P_spatial上。我们固定字典,只求解激活系数,看看字典能在多大程度上解释P_spatial。我们从两个维度来评估匹配度:一是每个时频点的解释比例,二是每一帧整体频谱与字典原子的余弦相似度。前者关注局部细节,后者关注整体形态,两者结合可以更全面地判断一个信号是否像泄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,我们将匹配度转化为一个实验室门控。这个门控会对那些与泄漏字典匹配度高的时频点给予更高的权重,反之则给予较低的权重。最终的泄漏候选功率,就是空间筛选后的局部超额乘以这个实验室门控。这里要特别理解"辅助"二字的含义:实验室先验不能独立工作,它必须在空间证据的基础上发挥作用,对已经筛选出的局部声源进行二次提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可以把整个声分离过程总结为两级交集。第一级是空间交集,通过空间信息筛选出中心独有的声音。第二级是物理先验交集,通过实验室数据筛选出符合泄漏特征的声音。这两个步骤层层递进,缺一不可。最终的泄漏候选功率,就是这三个核心要素——空间超额、空间可信度和实验室相似度——共同作用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得到泄漏候选的功率谱后,我们需要将其恢复成时域声音。这一步通过幅度掩膜技术实现。我们首先计算出一个掩膜,它代表了每个时频点属于泄漏的概率。然后将这个掩膜应用到原始的复数频谱上,分离出泄漏部分和剩余背景部分。最后,通过逆短时傅里叶变换,我们就能得到两个音频文件:一个是估计的泄漏声,另一个是去除泄漏后的剩余背景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v3_1_2算法与传统的直接模板匹配方法有本质区别。传统方法直接用实验室模板去匹配中心信号,很容易把一些频谱相似的噪声误判为泄漏。而v3_1_2算法增加了一个关键的前置步骤:空间筛选。它要求一个信号必须首先在空间上表现出"局部性",才有资格进入下一步的实验室模板匹配。这种设计大大降低了误报率,是算法性能提升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,我们对v3_1_2算法进行最准确的概括。它是一个结合了空间信息和物理先验的两级筛选系统。通过稳健的背景预测和空间门控,它首先定位出空间上的局部声源,然后利用从真实数据中学习到的泄漏字典,对这些声源进行二次筛选。需要强调的是,算法输出的是"泄漏候选",而非绝对的"泄漏真值",这体现了科学的严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我的报告到此结束,感谢大家的聆听。现在是问答环节,欢迎大家提问。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jpe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.jpe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.jpeg" Type="http://schemas.openxmlformats.org/officeDocument/2006/relationships/image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.jpeg" Type="http://schemas.openxmlformats.org/officeDocument/2006/relationships/image"/><Relationship Id="rId4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jpeg" Type="http://schemas.openxmlformats.org/officeDocument/2006/relationships/image"/><Relationship Id="rId3" Target="../notesSlides/notesSlide17.xml" Type="http://schemas.openxmlformats.org/officeDocument/2006/relationships/notesSlide"/><Relationship Id="rId4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40000"/>
                </a:srgbClr>
              </a:gs>
              <a:gs pos="55000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000000">
                    <a:alpha val="40000"/>
                  </a:srgbClr>
                </a:gs>
                <a:gs pos="55000">
                  <a:srgbClr val="000000">
                    <a:alpha val="1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1041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8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v3_1_2 声分离算法解析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7084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 spc="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专业技术报告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546600"/>
            <a:ext cx="7620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9022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 spc="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257800"/>
            <a:ext cx="2794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AI助手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42709" flipH="false" flipV="false">
            <a:off x="3810000" y="52769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572000" y="49022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 spc="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5257800"/>
            <a:ext cx="330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2026年8月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168400"/>
            <a:ext cx="635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0E0D0">
                    <a:alpha val="9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0E0D0">
                <a:alpha val="5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050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1905000"/>
            <a:ext cx="889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05000" y="19050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905000" y="22860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5A64"/>
                </a:solidFill>
                <a:latin typeface="Noto Sans SC"/>
                <a:ea typeface="Noto Sans SC"/>
                <a:cs typeface="Noto Sans SC"/>
                <a:sym typeface="Noto Sans SC"/>
              </a:rPr>
              <a:t>从两个关键问题出发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29210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9210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2921000"/>
            <a:ext cx="889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29210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空间局部超额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905000" y="33020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5A64"/>
                </a:solidFill>
                <a:latin typeface="Noto Sans SC"/>
                <a:ea typeface="Noto Sans SC"/>
                <a:cs typeface="Noto Sans SC"/>
                <a:sym typeface="Noto Sans SC"/>
              </a:rPr>
              <a:t>如何找出"中心独有声音"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9370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9370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14400" y="3937000"/>
            <a:ext cx="889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905000" y="39370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空间证据门控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905000" y="43180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5A64"/>
                </a:solidFill>
                <a:latin typeface="Noto Sans SC"/>
                <a:ea typeface="Noto Sans SC"/>
                <a:cs typeface="Noto Sans SC"/>
                <a:sym typeface="Noto Sans SC"/>
              </a:rPr>
              <a:t>超越简单相减的稳健判断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9530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9530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4400" y="4953000"/>
            <a:ext cx="889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905000" y="49530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实验室先验辅助约束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905000" y="53340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5A64"/>
                </a:solidFill>
                <a:latin typeface="Noto Sans SC"/>
                <a:ea typeface="Noto Sans SC"/>
                <a:cs typeface="Noto Sans SC"/>
                <a:sym typeface="Noto Sans SC"/>
              </a:rPr>
              <a:t>判断局部超额像不像泄漏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1905000"/>
            <a:ext cx="5080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50000" y="19050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02400" y="1905000"/>
            <a:ext cx="889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493000" y="1905000"/>
            <a:ext cx="387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声分离过程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493000" y="2286000"/>
            <a:ext cx="3873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5A64"/>
                </a:solidFill>
                <a:latin typeface="Noto Sans SC"/>
                <a:ea typeface="Noto Sans SC"/>
                <a:cs typeface="Noto Sans SC"/>
                <a:sym typeface="Noto Sans SC"/>
              </a:rPr>
              <a:t>两级交集的实现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50000" y="2921000"/>
            <a:ext cx="5080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50000" y="29210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502400" y="2921000"/>
            <a:ext cx="889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493000" y="2921000"/>
            <a:ext cx="387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声音恢复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493000" y="3302000"/>
            <a:ext cx="3873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5A64"/>
                </a:solidFill>
                <a:latin typeface="Noto Sans SC"/>
                <a:ea typeface="Noto Sans SC"/>
                <a:cs typeface="Noto Sans SC"/>
                <a:sym typeface="Noto Sans SC"/>
              </a:rPr>
              <a:t>从功率谱到时域信号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350000" y="3937000"/>
            <a:ext cx="5080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350000" y="39370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502400" y="3937000"/>
            <a:ext cx="889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493000" y="3937000"/>
            <a:ext cx="387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方法对比与总结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493000" y="4318000"/>
            <a:ext cx="3873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A5A64"/>
                </a:solidFill>
                <a:latin typeface="Noto Sans SC"/>
                <a:ea typeface="Noto Sans SC"/>
                <a:cs typeface="Noto Sans SC"/>
                <a:sym typeface="Noto Sans SC"/>
              </a:rPr>
              <a:t>本质区别与最终结论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核心逻辑:从两个关键问题出发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446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v3_1_2 算法并非直接问:"中心信号里哪些频率像实验室泄漏?"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而是按顺序提出两个更严谨的问题: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159000"/>
            <a:ext cx="50800" cy="1905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" y="22606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32000" y="2311400"/>
            <a:ext cx="3784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空间局部超额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032000" y="2717800"/>
            <a:ext cx="37846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中心位置的信号,是否真的比周围空间的背景噪声更强?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2159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86500" y="2159000"/>
            <a:ext cx="50800" cy="1905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15100" y="22606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556500" y="23114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实验室先验辅助约束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556500" y="2717800"/>
            <a:ext cx="40005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这些中心独有的声音,是否又具有真实气体泄漏的频谱形态?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267200"/>
            <a:ext cx="10668000" cy="10414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267200"/>
            <a:ext cx="50800" cy="1041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3434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核心逻辑公式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673600"/>
            <a:ext cx="10287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泄漏候选</a:t>
            </a:r>
            <a:r>
              <a:rPr lang="en-US" b="false" i="false" strike="noStrike" u="none" sz="17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∝</a:t>
            </a:r>
            <a:r>
              <a:rPr lang="en-US" b="fals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中心局部独有成分</a:t>
            </a:r>
            <a:r>
              <a:rPr lang="en-US" b="true" i="false" strike="noStrike" u="none" sz="17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fals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空间可信度</a:t>
            </a:r>
            <a:r>
              <a:rPr lang="en-US" b="true" i="false" strike="noStrike" u="none" sz="17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fals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实验室泄漏相似度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92" flipH="false" flipV="false">
            <a:off x="762004" y="548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0E0D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2000" y="56388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本质思想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9944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先用空间信息排除大范围的环境噪声,再用实验室先验知识排除非泄漏的局部声源。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空间局部超额:基本物理模型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95400"/>
            <a:ext cx="72390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95400"/>
            <a:ext cx="508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2954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1295400"/>
            <a:ext cx="558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找出"中心独有声音"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082800"/>
            <a:ext cx="723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信号模型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489200"/>
            <a:ext cx="7239000" cy="11938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489200"/>
            <a:ext cx="38100" cy="1193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489200"/>
            <a:ext cx="685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中心波束信号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2794000"/>
            <a:ext cx="685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X₀(f,t) = S_leak(f,t) + N₀(f,t)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175000"/>
            <a:ext cx="3365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2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S_leak(f,t):</a:t>
            </a: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中心附近的泄漏声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08500" y="3175000"/>
            <a:ext cx="3365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2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N₀(f,t):</a:t>
            </a: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中心位置的工厂背景声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784600"/>
            <a:ext cx="7239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784600"/>
            <a:ext cx="38100" cy="965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3784600"/>
            <a:ext cx="685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周围位置信号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089400"/>
            <a:ext cx="685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Xᵢ(f,t) ≈ Nᵢ(f,t)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419600"/>
            <a:ext cx="685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周围点离泄漏中心较远,主要用于描述环境声场。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876800"/>
            <a:ext cx="723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处理步骤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257800"/>
            <a:ext cx="3530600" cy="11938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cmpd="sng" cap="flat">
            <a:solidFill>
              <a:srgbClr val="25C7B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257800"/>
            <a:ext cx="38100" cy="1193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257800"/>
            <a:ext cx="762000" cy="1193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3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549400" y="5257800"/>
            <a:ext cx="274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短时傅里叶变换(STFT)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549400" y="5588000"/>
            <a:ext cx="2743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将时域信号转换为时频域。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549400" y="5918200"/>
            <a:ext cx="274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Z₀(f,t) = STFT{x₀(t)}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470400" y="5257800"/>
            <a:ext cx="3530600" cy="11938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cmpd="sng" cap="flat">
            <a:solidFill>
              <a:srgbClr val="25C7B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470400" y="5257800"/>
            <a:ext cx="38100" cy="1193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470400" y="5257800"/>
            <a:ext cx="762000" cy="1193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3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257800" y="5257800"/>
            <a:ext cx="274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计算时频功率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257800" y="5588000"/>
            <a:ext cx="2743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对时频域信号取模平方。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257800" y="5892800"/>
            <a:ext cx="27432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V₀(f,t) = |Z₀(f,t)|²</a:t>
            </a:r>
            <a:r>
              <a:rPr lang="en-US" b="true" i="false" strike="noStrike" u="none" sz="12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Vᵢ(f,t) = |Zᵢ(f,t)|²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3"/>
          <a:srcRect l="114" r="114" t="0" b="0"/>
          <a:stretch>
            <a:fillRect/>
          </a:stretch>
        </p:blipFill>
        <p:spPr>
          <a:xfrm rot="0" flipH="false" flipV="false">
            <a:off x="8255000" y="2082800"/>
            <a:ext cx="3683000" cy="2768600"/>
          </a:xfrm>
          <a:prstGeom prst="rect">
            <a:avLst/>
          </a:prstGeom>
          <a:noFill/>
          <a:ln w="12700" cmpd="sng" cap="flat">
            <a:solidFill>
              <a:srgbClr val="40E0D0">
                <a:alpha val="35000"/>
              </a:srgbClr>
            </a:solidFill>
            <a:prstDash val="solid"/>
            <a:round/>
          </a:ln>
          <a:effectLst>
            <a:outerShdw dir="5400000" dist="152400" blurRad="355600" algn="b" rotWithShape="false">
              <a:srgbClr val="000000">
                <a:alpha val="18000"/>
              </a:srgbClr>
            </a:outerShdw>
          </a:effectLst>
        </p:spPr>
      </p:pic>
      <p:sp>
        <p:nvSpPr>
          <p:cNvPr name="AutoShape 34" id="34"/>
          <p:cNvSpPr/>
          <p:nvPr/>
        </p:nvSpPr>
        <p:spPr>
          <a:xfrm rot="0" flipH="false" flipV="false">
            <a:off x="8255000" y="49784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短时傅里叶变换时频图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255000" y="5384800"/>
            <a:ext cx="3683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展示信号频率随时间变化的能量分布,是后续分析的基础。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空间局部超额:为何使用"相反方向同半径点"?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508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270000"/>
            <a:ext cx="1397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489200" y="1270000"/>
            <a:ext cx="127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35000"/>
            </a:srgbClr>
          </a:solidFill>
          <a:ln cmpd="sng" cap="flat">
            <a:solidFill>
              <a:srgbClr val="25C7B6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92400" y="1270000"/>
            <a:ext cx="8712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利用远处声源在空间上的平稳性来预测中心背景。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032000"/>
            <a:ext cx="5207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032000"/>
            <a:ext cx="50800" cy="965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" y="2032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远处声源/环境声场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90600" y="2413000"/>
            <a:ext cx="482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会同时出现在中心两侧的对称点上。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2032000"/>
            <a:ext cx="5207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2032000"/>
            <a:ext cx="50800" cy="965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51600" y="2032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中心附近声源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51600" y="2413000"/>
            <a:ext cx="482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中心功率会明显高于两侧对称点。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1242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cmpd="sng" cap="flat">
            <a:solidFill>
              <a:srgbClr val="E6CFCF">
                <a:alpha val="5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124200"/>
            <a:ext cx="50800" cy="584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3124200"/>
            <a:ext cx="1397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预测方法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489200" y="3124200"/>
            <a:ext cx="12700" cy="584200"/>
          </a:xfrm>
          <a:prstGeom prst="roundRect">
            <a:avLst>
              <a:gd name="adj" fmla="val 0"/>
            </a:avLst>
          </a:prstGeom>
          <a:solidFill>
            <a:srgbClr val="40E0D0">
              <a:alpha val="35000"/>
            </a:srgbClr>
          </a:solidFill>
          <a:ln cmpd="sng" cap="flat">
            <a:solidFill>
              <a:srgbClr val="25C7B6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692400" y="3124200"/>
            <a:ext cx="87122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通过相反方向的两个点,预测中心在"没有局部声源时"应有的背景功率。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3810000"/>
            <a:ext cx="50800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78000"/>
            </a:srgbClr>
          </a:solidFill>
          <a:ln w="12700" cmpd="sng" cap="flat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3810000"/>
            <a:ext cx="38100" cy="1168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65200" y="3810000"/>
            <a:ext cx="4775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对数功率域平均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65200" y="4140200"/>
            <a:ext cx="47752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log B</a:t>
            </a:r>
            <a:r>
              <a:rPr lang="en-US" b="false" i="false" strike="noStrike" u="none" sz="1000" baseline="-25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r,a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(f,t) = (log V</a:t>
            </a:r>
            <a:r>
              <a:rPr lang="en-US" b="false" i="false" strike="noStrike" u="none" sz="1000" baseline="-25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r,+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(f,t) + log V</a:t>
            </a:r>
            <a:r>
              <a:rPr lang="en-US" b="false" i="false" strike="noStrike" u="none" sz="1000" baseline="-25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r,-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(f,t)) / 2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0" y="3810000"/>
            <a:ext cx="45720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78000"/>
            </a:srgbClr>
          </a:solidFill>
          <a:ln w="12700" cmpd="sng" cap="flat">
            <a:solidFill>
              <a:srgbClr val="40E0D0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096000" y="3810000"/>
            <a:ext cx="38100" cy="1168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99200" y="3810000"/>
            <a:ext cx="325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转换回功率域(几何平均)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99200" y="4140200"/>
            <a:ext cx="32512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en-US" b="false" i="false" strike="noStrike" u="none" sz="1000" baseline="-25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r,a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(f,t) = sqrt(V</a:t>
            </a:r>
            <a:r>
              <a:rPr lang="en-US" b="false" i="false" strike="noStrike" u="none" sz="1000" baseline="-25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r,+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(f,t) · V</a:t>
            </a:r>
            <a:r>
              <a:rPr lang="en-US" b="false" i="false" strike="noStrike" u="none" sz="1000" baseline="-25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r,-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(f,t))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3"/>
          <a:srcRect l="256" r="256" t="0" b="0"/>
          <a:stretch>
            <a:fillRect/>
          </a:stretch>
        </p:blipFill>
        <p:spPr>
          <a:xfrm rot="0" flipH="false" flipV="false">
            <a:off x="9652000" y="3860800"/>
            <a:ext cx="1143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1" id="31"/>
          <p:cNvSpPr/>
          <p:nvPr/>
        </p:nvSpPr>
        <p:spPr>
          <a:xfrm rot="0" flipH="false" flipV="false">
            <a:off x="762000" y="5080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cmpd="sng" cap="flat">
            <a:solidFill>
              <a:srgbClr val="E6CFCF">
                <a:alpha val="5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080000"/>
            <a:ext cx="50800" cy="762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016000" y="5080000"/>
            <a:ext cx="63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r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651000" y="50800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false" i="false" strike="noStrike" u="none" sz="13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半径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3200400" y="5080000"/>
            <a:ext cx="12700" cy="762000"/>
          </a:xfrm>
          <a:prstGeom prst="roundRect">
            <a:avLst>
              <a:gd name="adj" fmla="val 0"/>
            </a:avLst>
          </a:prstGeom>
          <a:solidFill>
            <a:srgbClr val="40E0D0">
              <a:alpha val="30000"/>
            </a:srgbClr>
          </a:solidFill>
          <a:ln cmpd="sng" cap="flat">
            <a:solidFill>
              <a:srgbClr val="25C7B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3378200" y="5080000"/>
            <a:ext cx="63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4013200" y="5080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false" i="false" strike="noStrike" u="none" sz="13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方向轴(如左右、上下)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350000" y="5080000"/>
            <a:ext cx="12700" cy="762000"/>
          </a:xfrm>
          <a:prstGeom prst="roundRect">
            <a:avLst>
              <a:gd name="adj" fmla="val 0"/>
            </a:avLst>
          </a:prstGeom>
          <a:solidFill>
            <a:srgbClr val="40E0D0">
              <a:alpha val="30000"/>
            </a:srgbClr>
          </a:solidFill>
          <a:ln cmpd="sng" cap="flat">
            <a:solidFill>
              <a:srgbClr val="25C7B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527800" y="50800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en-US" b="false" i="false" strike="noStrike" u="none" sz="1000" baseline="-25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r,a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569200" y="5080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false" i="false" strike="noStrike" u="none" sz="13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该方向、该半径对中心背景的预测值。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62000" y="5969000"/>
            <a:ext cx="10668000" cy="660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0E0D0">
                  <a:alpha val="22000"/>
                </a:srgbClr>
              </a:gs>
              <a:gs pos="100000">
                <a:srgbClr val="40E0D0">
                  <a:alpha val="8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25C7B6">
                    <a:alpha val="22000"/>
                  </a:srgbClr>
                </a:gs>
                <a:gs pos="100000">
                  <a:srgbClr val="25C7B6">
                    <a:alpha val="8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762000" y="5969000"/>
            <a:ext cx="508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016000" y="5969000"/>
            <a:ext cx="1397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优势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2489200" y="5969000"/>
            <a:ext cx="127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40000"/>
            </a:srgbClr>
          </a:solidFill>
          <a:ln cmpd="sng" cap="flat">
            <a:solidFill>
              <a:srgbClr val="25C7B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2692400" y="5969000"/>
            <a:ext cx="8712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几何平均比算术平均更适合处理跨度较大的声功率数据。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空间局部超额:多半径、多方向稳健融合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95400"/>
            <a:ext cx="10668000" cy="6858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cmpd="sng" cap="flat">
            <a:solidFill>
              <a:srgbClr val="E6CFCF">
                <a:alpha val="5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95400"/>
            <a:ext cx="50800" cy="685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2954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574800"/>
            <a:ext cx="1028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373C46"/>
                </a:solidFill>
                <a:latin typeface="Noto Sans SC"/>
                <a:ea typeface="Noto Sans SC"/>
                <a:cs typeface="Noto Sans SC"/>
                <a:sym typeface="Noto Sans SC"/>
              </a:rPr>
              <a:t>单独使用某一个半径或方向,容易受局部设备、反射和异常点影响。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082800"/>
            <a:ext cx="10668000" cy="6858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cmpd="sng" cap="flat">
            <a:solidFill>
              <a:srgbClr val="E6CFCF">
                <a:alpha val="5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082800"/>
            <a:ext cx="50800" cy="685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082800"/>
            <a:ext cx="152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362200"/>
            <a:ext cx="1028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373C4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采用"半径内中位数—方向间中位数"的两级稳健融合策略。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870200"/>
            <a:ext cx="10668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2870200"/>
            <a:ext cx="76200" cy="1041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28702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032000" y="2870200"/>
            <a:ext cx="914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同一方向轴内,融合多个半径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3175000"/>
            <a:ext cx="1028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对同一方向轴(a),对不同半径(r)的预测值取中位数: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3505200"/>
            <a:ext cx="10287000" cy="3302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3505200"/>
            <a:ext cx="38100" cy="330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43000" y="3505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28323C"/>
                </a:solidFill>
                <a:latin typeface="Noto Sans SC"/>
                <a:ea typeface="Noto Sans SC"/>
                <a:cs typeface="Noto Sans SC"/>
                <a:sym typeface="Noto Sans SC"/>
              </a:rPr>
              <a:t>log B_a(f,t) = median_r [ log B_{r,a}(f,t) ]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013200"/>
            <a:ext cx="10668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013200"/>
            <a:ext cx="76200" cy="1041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40132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032000" y="4013200"/>
            <a:ext cx="914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融合不同方向轴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4318000"/>
            <a:ext cx="1028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对左右、上下、两组对角线等方向轴(a)的结果再取中位数: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4648200"/>
            <a:ext cx="10287000" cy="3302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16000" y="4648200"/>
            <a:ext cx="38100" cy="330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143000" y="4648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28323C"/>
                </a:solidFill>
                <a:latin typeface="Noto Sans SC"/>
                <a:ea typeface="Noto Sans SC"/>
                <a:cs typeface="Noto Sans SC"/>
                <a:sym typeface="Noto Sans SC"/>
              </a:rPr>
              <a:t>log B₀(f,t) = median_a [ log B_a(f,t) ]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1562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cmpd="sng" cap="flat">
            <a:solidFill>
              <a:srgbClr val="E6CFCF">
                <a:alpha val="5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156200"/>
            <a:ext cx="50800" cy="635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016000" y="51562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最终预测背景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921000" y="5156200"/>
            <a:ext cx="825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>
                <a:solidFill>
                  <a:srgbClr val="28323C"/>
                </a:solidFill>
                <a:latin typeface="Noto Sans SC"/>
                <a:ea typeface="Noto Sans SC"/>
                <a:cs typeface="Noto Sans SC"/>
                <a:sym typeface="Noto Sans SC"/>
              </a:rPr>
              <a:t>B₀(f,t) = exp(log B₀(f,t))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8928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892800"/>
            <a:ext cx="50800" cy="762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016000" y="58928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016000" y="6172200"/>
            <a:ext cx="10287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B₀(f,t)</a:t>
            </a:r>
            <a:r>
              <a:rPr lang="en-US" b="false" i="false" strike="noStrike" u="none" sz="1400">
                <a:solidFill>
                  <a:srgbClr val="373C46"/>
                </a:solidFill>
                <a:latin typeface="Noto Sans SC"/>
                <a:ea typeface="Noto Sans SC"/>
                <a:cs typeface="Noto Sans SC"/>
                <a:sym typeface="Noto Sans SC"/>
              </a:rPr>
              <a:t>是一个由多个半径、多个相反方向共同给出的、稳健的中心背景估计。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空间局部超额:定义与局限性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95400"/>
            <a:ext cx="10668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954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295400"/>
            <a:ext cx="1028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空间局部超额 (Spatial Excess Power) 定义: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625600"/>
            <a:ext cx="10287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P_excess(f,t) = max[ V₀(f,t) - B₀(f,t), 0 ]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3368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含义: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17800"/>
            <a:ext cx="381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2717800"/>
            <a:ext cx="103378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如果中心功率 V₀ 不高于预测背景 B₀,则认为该时频点没有局部声源。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302000"/>
            <a:ext cx="381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3302000"/>
            <a:ext cx="103378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如果中心功率明显高于背景,多出来的功率被视为</a:t>
            </a: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局部声源候选</a:t>
            </a: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886200"/>
            <a:ext cx="381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5200" y="3886200"/>
            <a:ext cx="103378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只保留正超额,负值被置零。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495800"/>
            <a:ext cx="106680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8000"/>
            </a:srgbClr>
          </a:solidFill>
          <a:ln cmpd="sng" cap="flat">
            <a:solidFill>
              <a:srgbClr val="25C7B6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495800"/>
            <a:ext cx="508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495800"/>
            <a:ext cx="190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重要提醒: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022600" y="4495800"/>
            <a:ext cx="825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P_excess ≠ P_leak</a:t>
            </a: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空间局部超额并不等同于泄漏声。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2324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空间局部超额可能包含: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588000"/>
            <a:ext cx="1676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588000"/>
            <a:ext cx="25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1676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真实的泄漏声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565400" y="5588000"/>
            <a:ext cx="1676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565400" y="5588000"/>
            <a:ext cx="25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565400" y="5588000"/>
            <a:ext cx="1676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中心附近的机械摩擦声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368800" y="5588000"/>
            <a:ext cx="1676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68800" y="5588000"/>
            <a:ext cx="25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368800" y="5588000"/>
            <a:ext cx="1676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局部电噪声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172200" y="5588000"/>
            <a:ext cx="1676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72200" y="5588000"/>
            <a:ext cx="25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172200" y="5588000"/>
            <a:ext cx="1676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偶发碰撞声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975600" y="5588000"/>
            <a:ext cx="1676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975600" y="5588000"/>
            <a:ext cx="25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975600" y="5588000"/>
            <a:ext cx="1676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波束旁瓣或定位误差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753600" y="5588000"/>
            <a:ext cx="1676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753600" y="5588000"/>
            <a:ext cx="254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753600" y="5588000"/>
            <a:ext cx="16764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其他小型局部声源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62000" y="6235700"/>
            <a:ext cx="10668000" cy="533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0E0D0">
                  <a:alpha val="22000"/>
                </a:srgbClr>
              </a:gs>
              <a:gs pos="100000">
                <a:srgbClr val="40E0D0">
                  <a:alpha val="8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25C7B6">
                    <a:alpha val="22000"/>
                  </a:srgbClr>
                </a:gs>
                <a:gs pos="100000">
                  <a:srgbClr val="25C7B6">
                    <a:alpha val="8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62000" y="6235700"/>
            <a:ext cx="50800" cy="533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16000" y="6235700"/>
            <a:ext cx="1397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结论: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2489200" y="6235700"/>
            <a:ext cx="89408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这一步仅完成了第一步:从大范围环境背景中找出中心独有的成分。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空间证据门控:超越简单相减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44600"/>
            <a:ext cx="1066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333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v3_1_2 并非简单计算 V₀ - B₀,而是通过三个条件来综合判断空间证据的可靠性: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854200"/>
            <a:ext cx="3429000" cy="33528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54200"/>
            <a:ext cx="50800" cy="3352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304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4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7178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中心超额 dB</a:t>
            </a:r>
            <a:r>
              <a:rPr lang="en-US" b="false" i="false" strike="noStrike" u="none" sz="1300">
                <a:solidFill>
                  <a:srgbClr val="333333">
                    <a:alpha val="5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(Δ_center)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242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中心到底比背景高多少?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14400" y="3530600"/>
            <a:ext cx="31242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cmpd="sng" cap="flat">
            <a:solidFill>
              <a:srgbClr val="25C7B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14400" y="3530600"/>
            <a:ext cx="3124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Δ_center(f,t) = 10·log₁₀(V₀/B₀)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854200"/>
            <a:ext cx="3429000" cy="33528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854200"/>
            <a:ext cx="50800" cy="3352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19304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4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27178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相反方向支持率</a:t>
            </a:r>
            <a:r>
              <a:rPr lang="en-US" b="false" i="false" strike="noStrike" u="none" sz="1300">
                <a:solidFill>
                  <a:srgbClr val="333333">
                    <a:alpha val="5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(R_pair,R_axis)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45000" y="31242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有多少个相反方向组合支持"中心更强"?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97400" y="3530600"/>
            <a:ext cx="3124200" cy="9652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cmpd="sng" cap="flat">
            <a:solidFill>
              <a:srgbClr val="25C7B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73600" y="3581400"/>
            <a:ext cx="2971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计算每组相反方向点的超额</a:t>
            </a:r>
            <a:r>
              <a:rPr lang="en-US" b="true" i="false" strike="noStrike" u="none" sz="12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Δ_{r,a}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73600" y="3987800"/>
            <a:ext cx="2971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统计超过阈值</a:t>
            </a:r>
            <a:r>
              <a:rPr lang="en-US" b="true" i="false" strike="noStrike" u="none" sz="12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τ_s</a:t>
            </a:r>
            <a:r>
              <a:rPr lang="en-US" b="false" i="false" strike="noStrike" u="none" sz="1200">
                <a:solidFill>
                  <a:srgbClr val="333333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的比例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1854200"/>
            <a:ext cx="3429000" cy="33528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1854200"/>
            <a:ext cx="50800" cy="3352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19304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4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27178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背景预测不确定度</a:t>
            </a:r>
            <a:r>
              <a:rPr lang="en-US" b="false" i="false" strike="noStrike" u="none" sz="1300">
                <a:solidFill>
                  <a:srgbClr val="333333">
                    <a:alpha val="5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(U)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31242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不同半径、方向的背景预测是否一致?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80400" y="3530600"/>
            <a:ext cx="3124200" cy="9652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cmpd="sng" cap="flat">
            <a:solidFill>
              <a:srgbClr val="25C7B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56600" y="3581400"/>
            <a:ext cx="2971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使用稳健中位绝对偏差(MAD)描述不一致性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56600" y="3987800"/>
            <a:ext cx="2971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40E0D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b="false" i="false" strike="noStrike" u="none" sz="1200">
                <a:solidFill>
                  <a:srgbClr val="333333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越低,空间预测越可靠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486400"/>
            <a:ext cx="10795000" cy="914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0E0D0">
                  <a:alpha val="22000"/>
                </a:srgbClr>
              </a:gs>
              <a:gs pos="100000">
                <a:srgbClr val="40E0D0">
                  <a:alpha val="8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25C7B6">
                    <a:alpha val="22000"/>
                  </a:srgbClr>
                </a:gs>
                <a:gs pos="100000">
                  <a:srgbClr val="25C7B6">
                    <a:alpha val="8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486400"/>
            <a:ext cx="50800" cy="914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041400" y="5486400"/>
            <a:ext cx="1778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2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895600" y="5664200"/>
            <a:ext cx="12700" cy="558800"/>
          </a:xfrm>
          <a:prstGeom prst="roundRect">
            <a:avLst>
              <a:gd name="adj" fmla="val 0"/>
            </a:avLst>
          </a:prstGeom>
          <a:solidFill>
            <a:srgbClr val="40E0D0">
              <a:alpha val="45000"/>
            </a:srgbClr>
          </a:solidFill>
          <a:ln cmpd="sng" cap="flat">
            <a:solidFill>
              <a:srgbClr val="25C7B6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149600" y="5486400"/>
            <a:ext cx="83312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周围声场越乱,程序越保守。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空间证据门控:自适应阈值与最终门控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0800" cy="3429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5494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自适应空间阈值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558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当背景预测不稳定时(即 U 较大),程序会自动提高判定中心超额的门槛。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304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τ_eff(f,t) = τ₀ + α · min(U(f,t),12)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946" flipH="false" flipV="false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0E0D0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403600"/>
            <a:ext cx="88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τ₀: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05000" y="3403600"/>
            <a:ext cx="2095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基础超额阈值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810000"/>
            <a:ext cx="88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α: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905000" y="3810000"/>
            <a:ext cx="2095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不确定度补偿系数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1397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1397000"/>
            <a:ext cx="50800" cy="3429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15494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空间门控 (Spatial Gate)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19558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将上述证据转换为(0~1)的软门控值,对局部超额进行加权。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99000" y="2794000"/>
            <a:ext cx="304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G_spatial = G_Δ · √(G_pair·G_axis) · C_U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946" flipH="false" flipV="false">
            <a:off x="4699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0E0D0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4699000" y="33782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G_Δ: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715000" y="3378200"/>
            <a:ext cx="1968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中心超额门控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99000" y="37338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G_pair,G_axis: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715000" y="3733800"/>
            <a:ext cx="1968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支持率门控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99000" y="40894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C_U: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715000" y="4089400"/>
            <a:ext cx="1968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背景预测可信度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28000" y="1397000"/>
            <a:ext cx="3302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28000" y="1397000"/>
            <a:ext cx="50800" cy="3429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0" y="15494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空间筛选后的局部超额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382000" y="20828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P_spatial(f,t) =</a:t>
            </a:r>
            <a:r>
              <a:rPr lang="en-US" b="true" i="false" strike="noStrike" u="none" sz="18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8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P_excess(f,t) · G_spatial(f,t)</a:t>
            </a:r>
          </a:p>
        </p:txBody>
      </p:sp>
      <p:cxnSp>
        <p:nvCxnSpPr>
          <p:cNvPr name="Connector 30" id="30"/>
          <p:cNvCxnSpPr/>
          <p:nvPr/>
        </p:nvCxnSpPr>
        <p:spPr>
          <a:xfrm rot="-15626" flipH="false" flipV="false">
            <a:off x="8382014" y="31432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0E0D0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8382000" y="32512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经过空间门控加权后的局部超额,是最终保留的可信局部声源成分。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143500"/>
            <a:ext cx="50800" cy="1206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041400" y="5232400"/>
            <a:ext cx="127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041400" y="5588000"/>
            <a:ext cx="10287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空间局部超额是</a:t>
            </a:r>
            <a:r>
              <a:rPr lang="en-US" b="true" i="false" strike="noStrike" u="none" sz="1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正功率超额 + 多方向支持 + 背景预测稳定性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共同作用的结果。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30555" r="30555" t="0" b="0"/>
          <a:stretch>
            <a:fillRect/>
          </a:stretch>
        </p:blipFill>
        <p:spPr>
          <a:xfrm rot="0" flipH="false" flipV="false">
            <a:off x="8636000" y="0"/>
            <a:ext cx="355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8636000" y="0"/>
            <a:ext cx="76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FFFF">
                  <a:alpha val="35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E6CFCF">
                    <a:alpha val="35000"/>
                  </a:srgbClr>
                </a:gs>
                <a:gs pos="100000">
                  <a:srgbClr val="E6CFCF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08000"/>
            <a:ext cx="787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实验室先验辅助约束:学习泄漏字典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371600"/>
            <a:ext cx="50800" cy="584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13716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1676400"/>
            <a:ext cx="749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判断</a:t>
            </a: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P_spatial</a:t>
            </a:r>
            <a:r>
              <a:rPr lang="en-US" b="false" i="false" strike="noStrike" u="none" sz="14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像不像泄漏。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082800"/>
            <a:ext cx="50800" cy="584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20828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方法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2387600"/>
            <a:ext cx="749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使用消声室中的真实泄漏信号作为先验知识。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9464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步骤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3528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352800"/>
            <a:ext cx="50800" cy="1651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14400" y="3429000"/>
            <a:ext cx="2222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4400" y="3962400"/>
            <a:ext cx="2222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数据获取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14400" y="4267200"/>
            <a:ext cx="2222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在消声室中录制真实气体泄漏的WAV文件。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378200" y="33528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378200" y="3352800"/>
            <a:ext cx="50800" cy="1651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30600" y="3429000"/>
            <a:ext cx="2222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530600" y="3962400"/>
            <a:ext cx="2222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时频转换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530600" y="4267200"/>
            <a:ext cx="2222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对实验室数据做STFT,得到非负功率矩阵</a:t>
            </a: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V_lab</a:t>
            </a: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994400" y="33528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994400" y="3352800"/>
            <a:ext cx="50800" cy="1651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46800" y="3429000"/>
            <a:ext cx="2286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4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146800" y="39624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非负矩阵分解(NMF)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146800" y="4267200"/>
            <a:ext cx="228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V_lab ≈ W_leak * H_lab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130800"/>
            <a:ext cx="7772400" cy="6604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14400" y="5130800"/>
            <a:ext cx="368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W_leak ∈ R+^(F×K):</a:t>
            </a:r>
            <a:r>
              <a:rPr lang="en-US" b="false" i="false" strike="noStrike" u="none" sz="12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泄漏频谱字典,每一列 w_k 代表一种实验室泄漏的频谱形态。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724400" y="5130800"/>
            <a:ext cx="3708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H_lab:</a:t>
            </a:r>
            <a:r>
              <a:rPr lang="en-US" b="false" i="false" strike="noStrike" u="none" sz="12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激活强度矩阵。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5918200"/>
            <a:ext cx="7772400" cy="7112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cmpd="sng" cap="flat">
            <a:solidFill>
              <a:srgbClr val="25C7B6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918200"/>
            <a:ext cx="50800" cy="711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65200" y="5918200"/>
            <a:ext cx="914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优势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930400" y="5918200"/>
            <a:ext cx="6578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NMF能够学习到泄漏声随孔径、压力和时间变化的不同频谱形态,而不是一个固定的频带模板。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实验室先验辅助约束:匹配与筛选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95400"/>
            <a:ext cx="7747000" cy="736600"/>
          </a:xfrm>
          <a:prstGeom prst="roundRect">
            <a:avLst>
              <a:gd name="adj" fmla="val 0"/>
            </a:avLst>
          </a:prstGeom>
          <a:solidFill>
            <a:srgbClr val="40E0D0">
              <a:alpha val="12000"/>
            </a:srgbClr>
          </a:solidFill>
          <a:ln cmpd="sng" cap="flat">
            <a:solidFill>
              <a:srgbClr val="25C7B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95400"/>
            <a:ext cx="50800" cy="736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2954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600200"/>
            <a:ext cx="736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14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用泄漏字典</a:t>
            </a: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W_leak</a:t>
            </a:r>
            <a:r>
              <a:rPr lang="en-US" b="false" i="false" strike="noStrike" u="none" sz="14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来解释工厂数据中的空间局部超额</a:t>
            </a: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P_spatial</a:t>
            </a:r>
            <a:r>
              <a:rPr lang="en-US" b="false" i="false" strike="noStrike" u="none" sz="14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184400"/>
            <a:ext cx="7747000" cy="12446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184400"/>
            <a:ext cx="50800" cy="1244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2184400"/>
            <a:ext cx="889000" cy="1244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800">
                <a:solidFill>
                  <a:srgbClr val="40E0D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05000" y="2235200"/>
            <a:ext cx="647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固定字典,求解激活系数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0" y="2578100"/>
            <a:ext cx="2540000" cy="3556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905000" y="25781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P_spatial ≈ W_leak * H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2971800"/>
            <a:ext cx="647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通过优化目标求解激活矩阵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</a:t>
            </a:r>
            <a:r>
              <a:rPr lang="en-US" b="false" i="false" strike="noStrike" u="none" sz="13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,并加入稀疏约束以避免过度激活。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530600"/>
            <a:ext cx="77470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530600"/>
            <a:ext cx="50800" cy="1498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65200" y="3530600"/>
            <a:ext cx="889000" cy="149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800">
                <a:solidFill>
                  <a:srgbClr val="40E0D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905000" y="3581400"/>
            <a:ext cx="647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计算时频解释比例 (E)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905000" y="3924300"/>
            <a:ext cx="6223000" cy="3556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905000" y="3924300"/>
            <a:ext cx="622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E(f,t) = P_lab-model(f,t) / (P_spatial(f,t) + ε)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905000" y="4318000"/>
            <a:ext cx="6223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其中</a:t>
            </a: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P_lab-model = W_leak * H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905000" y="4597400"/>
            <a:ext cx="3022600" cy="381000"/>
          </a:xfrm>
          <a:prstGeom prst="roundRect">
            <a:avLst>
              <a:gd name="adj" fmla="val 0"/>
            </a:avLst>
          </a:prstGeom>
          <a:solidFill>
            <a:srgbClr val="40E0D0">
              <a:alpha val="9000"/>
            </a:srgbClr>
          </a:solidFill>
          <a:ln cmpd="sng" cap="flat">
            <a:solidFill>
              <a:srgbClr val="25C7B6">
                <a:alpha val="9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905000" y="4597400"/>
            <a:ext cx="3022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2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E ≈ 1</a:t>
            </a: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该局部超额可被泄漏字典很好解释。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978400" y="4597400"/>
            <a:ext cx="3149600" cy="381000"/>
          </a:xfrm>
          <a:prstGeom prst="roundRect">
            <a:avLst>
              <a:gd name="adj" fmla="val 0"/>
            </a:avLst>
          </a:prstGeom>
          <a:solidFill>
            <a:srgbClr val="40E0D0">
              <a:alpha val="9000"/>
            </a:srgbClr>
          </a:solidFill>
          <a:ln cmpd="sng" cap="flat">
            <a:solidFill>
              <a:srgbClr val="25C7B6">
                <a:alpha val="9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978400" y="4597400"/>
            <a:ext cx="3149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2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E ≈ 0</a:t>
            </a: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该成分不像已知泄漏频谱。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130800"/>
            <a:ext cx="7747000" cy="12446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130800"/>
            <a:ext cx="50800" cy="1244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65200" y="5130800"/>
            <a:ext cx="889000" cy="1244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800">
                <a:solidFill>
                  <a:srgbClr val="40E0D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905000" y="5181600"/>
            <a:ext cx="647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计算每帧频谱余弦相似度 (c)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905000" y="5524500"/>
            <a:ext cx="6223000" cy="3302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905000" y="5524500"/>
            <a:ext cx="6223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c(t) = max_k (w_k^T * p_t) / (||w_k||₂ * ||p_t||₂)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905000" y="5892800"/>
            <a:ext cx="6223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要求某一时间帧的整体频谱形状也要接近至少一种泄漏形态。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3"/>
          <a:srcRect l="84" r="84" t="0" b="0"/>
          <a:stretch>
            <a:fillRect/>
          </a:stretch>
        </p:blipFill>
        <p:spPr>
          <a:xfrm rot="0" flipH="false" flipV="false">
            <a:off x="8763000" y="2184400"/>
            <a:ext cx="3048000" cy="266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4" id="34"/>
          <p:cNvSpPr/>
          <p:nvPr/>
        </p:nvSpPr>
        <p:spPr>
          <a:xfrm rot="0" flipH="false" flipV="false">
            <a:off x="8763000" y="49784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余弦相似度几何解释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763000" y="5334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12500"/>
              </a:lnSpc>
              <a:defRPr/>
            </a:pPr>
            <a:r>
              <a:rPr lang="en-US" b="false" i="false" strike="noStrike" u="none" sz="1100">
                <a:solidFill>
                  <a:srgbClr val="5A5A64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向量夹角越小,余弦值越接近 1,表明频谱形态越相似。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实验室先验辅助约束:实验室门控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716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实验室门控 (Lab Gate):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结合时频解释比例</a:t>
            </a: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</a:t>
            </a:r>
            <a:r>
              <a:rPr lang="en-US" b="false" i="false" strike="noStrike" u="none" sz="15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和帧级相似度</a:t>
            </a: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G_frame</a:t>
            </a:r>
            <a:r>
              <a:rPr lang="en-US" b="false" i="false" strike="noStrike" u="none" sz="15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,构建软门控。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35200"/>
            <a:ext cx="10668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mpd="sng" cap="flat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35200"/>
            <a:ext cx="50800" cy="736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35200"/>
            <a:ext cx="10668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G_lab(f,t) = G_min + (1-G_min) * [E(f,t) * G_frame(t)]^γ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0988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最终泄漏候选功率: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30600"/>
            <a:ext cx="10668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mpd="sng" cap="flat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530600"/>
            <a:ext cx="50800" cy="736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530600"/>
            <a:ext cx="10668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P_leak(f,t) = P_spatial(f,t) * G_lab(f,t)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196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"辅助"的含义: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76800"/>
            <a:ext cx="34671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mpd="sng" cap="flat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876800"/>
            <a:ext cx="50800" cy="1498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978400"/>
            <a:ext cx="311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软约束,而非硬阈值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359400"/>
            <a:ext cx="31115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4B55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实验室先验是一个</a:t>
            </a: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软约束</a:t>
            </a:r>
            <a:r>
              <a:rPr lang="en-US" b="false" i="false" strike="noStrike" u="none" sz="1300">
                <a:solidFill>
                  <a:srgbClr val="4B4B55"/>
                </a:solidFill>
                <a:latin typeface="Noto Sans SC"/>
                <a:ea typeface="Noto Sans SC"/>
                <a:cs typeface="Noto Sans SC"/>
                <a:sym typeface="Noto Sans SC"/>
              </a:rPr>
              <a:t>,而非硬阈值。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83100" y="4876800"/>
            <a:ext cx="34671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mpd="sng" cap="flat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83100" y="4876800"/>
            <a:ext cx="50800" cy="1498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737100" y="4978400"/>
            <a:ext cx="311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保留门控下限 G_min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737100" y="5359400"/>
            <a:ext cx="31115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G_min</a:t>
            </a:r>
            <a:r>
              <a:rPr lang="en-US" b="false" i="false" strike="noStrike" u="none" sz="1300">
                <a:solidFill>
                  <a:srgbClr val="4B4B55"/>
                </a:solidFill>
                <a:latin typeface="Noto Sans SC"/>
                <a:ea typeface="Noto Sans SC"/>
                <a:cs typeface="Noto Sans SC"/>
                <a:sym typeface="Noto Sans SC"/>
              </a:rPr>
              <a:t>保留了一定的门控下限,避免因实验室与工厂的域差异而误删真实泄漏。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04200" y="4876800"/>
            <a:ext cx="3467100" cy="1498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mpd="sng" cap="flat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04200" y="4876800"/>
            <a:ext cx="50800" cy="14986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458200" y="4978400"/>
            <a:ext cx="311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增强或抑制候选成分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458200" y="5359400"/>
            <a:ext cx="31115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4B55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实验室数据不能凭空提取泄漏,它只能在已有空间局部证据的范围内,对候选成分进行</a:t>
            </a: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增强或抑制</a:t>
            </a:r>
            <a:r>
              <a:rPr lang="en-US" b="false" i="false" strike="noStrike" u="none" sz="1300">
                <a:solidFill>
                  <a:srgbClr val="4B4B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声分离过程:两级交集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整体计算可以概括为两级交集: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mpd="sng" cap="flat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0800" cy="2349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05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第一级:空间交集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3368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P_spatial = [V₀ - B₀]_+ × G_spatial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167" flipH="false" flipV="false">
            <a:off x="1016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0E0D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28702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解决的问题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159000" y="2870200"/>
            <a:ext cx="368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哪些声音主要出现在中心,而不是周围环境中?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3782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主要去除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159000" y="3378200"/>
            <a:ext cx="3683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大范围设备噪声、环境噪声、空间分布平缓的声场成分。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994400" y="4216400"/>
            <a:ext cx="381000" cy="381000"/>
          </a:xfrm>
          <a:prstGeom prst="downArrow">
            <a:avLst/>
          </a:prstGeom>
          <a:solidFill>
            <a:srgbClr val="40E0D0">
              <a:alpha val="70000"/>
            </a:srgbClr>
          </a:solidFill>
          <a:ln cmpd="sng" cap="flat">
            <a:solidFill>
              <a:srgbClr val="25C7B6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1778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mpd="sng" cap="flat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778000"/>
            <a:ext cx="50800" cy="2349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1905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第二级:物理先验交集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23368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P_leak = P_spatial × G_lab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167" flipH="false" flipV="false">
            <a:off x="6731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0E0D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731000" y="28702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解决的问题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874000" y="2870200"/>
            <a:ext cx="368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中心独有的这些声音,哪些又具有真实气体泄漏的频谱结构?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31000" y="33782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主要抑制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874000" y="3378200"/>
            <a:ext cx="3683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中心附近非泄漏机械声、瞬态冲击声、不符合泄漏频谱的局部噪声。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826000"/>
            <a:ext cx="10668000" cy="1333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0E0D0">
                  <a:alpha val="18000"/>
                </a:srgbClr>
              </a:gs>
              <a:gs pos="100000">
                <a:srgbClr val="40E0D0">
                  <a:alpha val="6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25C7B6">
                    <a:alpha val="18000"/>
                  </a:srgbClr>
                </a:gs>
                <a:gs pos="100000">
                  <a:srgbClr val="25C7B6">
                    <a:alpha val="6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826000"/>
            <a:ext cx="50800" cy="1333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16000" y="49530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最终表达式: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334000"/>
            <a:ext cx="10033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P_leak(f,t) ∝ [V₀(f,t) - B₀(f,t)]+ × G_spatial(f,t) × G_lab(f,t)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16000" y="58420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这三项缺一不可。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 声音恢复:从功率谱到时域信号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736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目标:</a:t>
            </a:r>
            <a:r>
              <a:rPr lang="en-US" b="false" i="false" strike="noStrike" u="none" sz="16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将最终的泄漏候选功率谱 P_leak(f,t) 恢复成可听的时域声音。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366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0800" cy="889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1778000"/>
            <a:ext cx="838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17780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计算幅度掩膜 (Magnitude Mask)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78000" y="2082800"/>
            <a:ext cx="6223000" cy="3302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8000" y="2082800"/>
            <a:ext cx="6223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373741"/>
                </a:solidFill>
                <a:latin typeface="Noto Sans SC"/>
                <a:ea typeface="Noto Sans SC"/>
                <a:cs typeface="Noto Sans SC"/>
                <a:sym typeface="Noto Sans SC"/>
              </a:rPr>
              <a:t>M(f,t) = sqrt(P_leak(f,t) / (V₀(f,t) + ε))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2730500"/>
            <a:ext cx="736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730500"/>
            <a:ext cx="50800" cy="762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2730500"/>
            <a:ext cx="838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78000" y="27305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时频平滑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78000" y="3048000"/>
            <a:ext cx="622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对掩膜 M 进行中值平滑,使其更连续。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556000"/>
            <a:ext cx="7366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556000"/>
            <a:ext cx="50800" cy="1041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14400" y="3556000"/>
            <a:ext cx="8382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778000" y="35560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应用掩膜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778000" y="3860800"/>
            <a:ext cx="6223000" cy="3048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778000" y="38608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373741"/>
                </a:solidFill>
                <a:latin typeface="Noto Sans SC"/>
                <a:ea typeface="Noto Sans SC"/>
                <a:cs typeface="Noto Sans SC"/>
                <a:sym typeface="Noto Sans SC"/>
              </a:rPr>
              <a:t>Z_leak(f,t) = M(f,t) * Z₀(f,t)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78000" y="4191000"/>
            <a:ext cx="6223000" cy="3048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778000" y="41910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373741"/>
                </a:solidFill>
                <a:latin typeface="Noto Sans SC"/>
                <a:ea typeface="Noto Sans SC"/>
                <a:cs typeface="Noto Sans SC"/>
                <a:sym typeface="Noto Sans SC"/>
              </a:rPr>
              <a:t>Z_remaining(f,t) = Z₀(f,t) - Z_leak(f,t)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660900"/>
            <a:ext cx="7366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660900"/>
            <a:ext cx="50800" cy="1041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14400" y="4660900"/>
            <a:ext cx="8382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778000" y="46609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逆短时傅里叶变换 (ISTFT)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778000" y="4965700"/>
            <a:ext cx="6223000" cy="3048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778000" y="49657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373741"/>
                </a:solidFill>
                <a:latin typeface="Noto Sans SC"/>
                <a:ea typeface="Noto Sans SC"/>
                <a:cs typeface="Noto Sans SC"/>
                <a:sym typeface="Noto Sans SC"/>
              </a:rPr>
              <a:t>x_leak(t) = ISTFT{Z_leak(f,t)}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778000" y="5295900"/>
            <a:ext cx="6223000" cy="3048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778000" y="52959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373741"/>
                </a:solidFill>
                <a:latin typeface="Noto Sans SC"/>
                <a:ea typeface="Noto Sans SC"/>
                <a:cs typeface="Noto Sans SC"/>
                <a:sym typeface="Noto Sans SC"/>
              </a:rPr>
              <a:t>x_remaining(t) = ISTFT{Z_remaining(f,t)}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816600"/>
            <a:ext cx="7366000" cy="838200"/>
          </a:xfrm>
          <a:prstGeom prst="roundRect">
            <a:avLst>
              <a:gd name="adj" fmla="val 0"/>
            </a:avLst>
          </a:prstGeom>
          <a:solidFill>
            <a:srgbClr val="40E0D0">
              <a:alpha val="18000"/>
            </a:srgbClr>
          </a:solidFill>
          <a:ln cmpd="sng" cap="flat">
            <a:solidFill>
              <a:srgbClr val="25C7B6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816600"/>
            <a:ext cx="50800" cy="838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14400" y="5816600"/>
            <a:ext cx="1524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输出文件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2540000" y="5816600"/>
            <a:ext cx="298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estimated_local_leak.wav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588000" y="5816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estimated_background_remaining.wav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rcRect l="0" r="0" t="2" b="2"/>
          <a:stretch>
            <a:fillRect/>
          </a:stretch>
        </p:blipFill>
        <p:spPr>
          <a:xfrm rot="0" flipH="false" flipV="false">
            <a:off x="8483600" y="1778000"/>
            <a:ext cx="3556000" cy="26797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8" id="38"/>
          <p:cNvSpPr/>
          <p:nvPr/>
        </p:nvSpPr>
        <p:spPr>
          <a:xfrm rot="0" flipH="false" flipV="false">
            <a:off x="8483600" y="4572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信号重建对比示意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483600" y="49022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50505A"/>
                </a:solidFill>
                <a:latin typeface="Noto Sans SC"/>
                <a:ea typeface="Noto Sans SC"/>
                <a:cs typeface="Noto Sans SC"/>
                <a:sym typeface="Noto Sans SC"/>
              </a:rPr>
              <a:t>原始信号与重建信号的波形对比,验证恢复效果。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27777" r="27777" t="0" b="0"/>
          <a:stretch>
            <a:fillRect/>
          </a:stretch>
        </p:blipFill>
        <p:spPr>
          <a:xfrm rot="0" flipH="false" flipV="false">
            <a:off x="8128000" y="0"/>
            <a:ext cx="4064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8128000" y="0"/>
            <a:ext cx="76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FFFF">
                  <a:alpha val="35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E6CFCF">
                    <a:alpha val="35000"/>
                  </a:srgbClr>
                </a:gs>
                <a:gs pos="100000">
                  <a:srgbClr val="E6CFCF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08000"/>
            <a:ext cx="736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07 方法对比:与"直接模板匹配"的本质区别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397000"/>
            <a:ext cx="7175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397000"/>
            <a:ext cx="50800" cy="1524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14986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直接模板匹配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1879600"/>
            <a:ext cx="673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X₀ → 实验室字典 → 泄漏样成分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235200"/>
            <a:ext cx="88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05000" y="2235200"/>
            <a:ext cx="584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工厂中的机械声、摩擦声也可能在频谱上像泄漏,容易产生假阳性。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073400"/>
            <a:ext cx="7175500" cy="19304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073400"/>
            <a:ext cx="50800" cy="19304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31750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v3_1_2 算法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3556000"/>
            <a:ext cx="673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C3C46"/>
                </a:solidFill>
                <a:latin typeface="Noto Sans SC"/>
                <a:ea typeface="Noto Sans SC"/>
                <a:cs typeface="Noto Sans SC"/>
                <a:sym typeface="Noto Sans SC"/>
              </a:rPr>
              <a:t>X₀, {X_i} → 空间局部超额 → P_spatial → 实验室辅助约束 → P_leak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39624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184400" y="3962400"/>
            <a:ext cx="558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实验室先验没有资格单独决定什么是泄漏。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368800"/>
            <a:ext cx="114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关键原则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184400" y="4368800"/>
            <a:ext cx="558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只有已经获得</a:t>
            </a: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空间局部证据</a:t>
            </a: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的成分,才允许进入实验室先验筛选。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207000"/>
            <a:ext cx="7175500" cy="1143000"/>
          </a:xfrm>
          <a:prstGeom prst="roundRect">
            <a:avLst>
              <a:gd name="adj" fmla="val 0"/>
            </a:avLst>
          </a:prstGeom>
          <a:solidFill>
            <a:srgbClr val="40E0D0">
              <a:alpha val="14000"/>
            </a:srgbClr>
          </a:solidFill>
          <a:ln cmpd="sng" cap="flat">
            <a:solidFill>
              <a:srgbClr val="25C7B6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283200"/>
            <a:ext cx="673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这正是 v3 相比前一类方法的本质变化: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5638800"/>
            <a:ext cx="6731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先问中心是否比相反方向预测值局部更强,只有空间证据存在时,消声室数据才辅助筛选。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07 总结:最准确的表述与结论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71600"/>
            <a:ext cx="1066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v3_1_2 方法概括: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854200"/>
            <a:ext cx="1066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v3_1_2 首先利用中心周围相反方向、同半径的同步波束信号,在对数功率域稳健预测中心位置的环境背景。中心实际功率高于空间预测背景的正差,被定义为空间局部超额。随后结合多方向支持率和背景预测不确定度,对局部超额进行空间可信度门控。最后,将消声室真实泄漏信号学习成非负频谱字典,仅对已经通过空间筛选的局部超额进行辅助约束,保留既具有中心空间聚集性、又符合真实泄漏频谱形态的时频成分,并通过软掩膜和逆短时傅里叶变换重建泄漏候选声音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937000"/>
            <a:ext cx="1066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必须严谨说明: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445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445000"/>
            <a:ext cx="50800" cy="889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444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estimated_local_leak.wav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4445000"/>
            <a:ext cx="635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是</a:t>
            </a: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泄漏候选分量</a:t>
            </a: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,不是已被证明的绝对纯泄漏真值。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2000"/>
            </a:srgbClr>
          </a:solidFill>
          <a:ln cmpd="sng" cap="flat">
            <a:solidFill>
              <a:srgbClr val="E6CFCF">
                <a:alpha val="7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cmpd="sng" cap="flat">
            <a:solidFill>
              <a:srgbClr val="25C7B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41400" y="5461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estimated_background_remaining.wav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5461000"/>
            <a:ext cx="603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是中心减去候选后的</a:t>
            </a:r>
            <a:r>
              <a:rPr lang="en-US" b="true" i="false" strike="noStrike" u="none" sz="130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剩余</a:t>
            </a:r>
            <a:r>
              <a:rPr lang="en-US" b="false" i="false" strike="noStrike" u="none" sz="1300">
                <a:solidFill>
                  <a:srgbClr val="464650"/>
                </a:solidFill>
                <a:latin typeface="Noto Sans SC"/>
                <a:ea typeface="Noto Sans SC"/>
                <a:cs typeface="Noto Sans SC"/>
                <a:sym typeface="Noto Sans SC"/>
              </a:rPr>
              <a:t>,不是绝对纯背景。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3175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800" spc="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43815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 spc="1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{"Label":"1","ContentProducer":"001191110102MACQD9K64010000","ProduceID":"7670083534300777434","ReservedCode1":"","ContentPropagator":"","PropagateID":"","ReservedCode2":""}</vt:lpwstr>
  </property>
</Properties>
</file>